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image" Target="../media/image-9-5.png"/><Relationship Id="rId6" Type="http://schemas.openxmlformats.org/officeDocument/2006/relationships/image" Target="../media/image-9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254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28600" cy="5143500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675120" y="365760"/>
            <a:ext cx="2103120" cy="2103120"/>
          </a:xfrm>
          <a:prstGeom prst="rect">
            <a:avLst/>
          </a:prstGeom>
          <a:solidFill>
            <a:srgbClr val="1C7293">
              <a:alpha val="30000"/>
            </a:srgbClr>
          </a:solidFill>
          <a:ln w="12700">
            <a:solidFill>
              <a:srgbClr val="1C7293">
                <a:alpha val="20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812280" y="502920"/>
            <a:ext cx="2103120" cy="2103120"/>
          </a:xfrm>
          <a:prstGeom prst="rect">
            <a:avLst/>
          </a:prstGeom>
          <a:solidFill>
            <a:srgbClr val="1C7293">
              <a:alpha val="25000"/>
            </a:srgbClr>
          </a:solidFill>
          <a:ln w="12700">
            <a:solidFill>
              <a:srgbClr val="1C7293">
                <a:alpha val="20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949440" y="640080"/>
            <a:ext cx="2103120" cy="2103120"/>
          </a:xfrm>
          <a:prstGeom prst="rect">
            <a:avLst/>
          </a:prstGeom>
          <a:solidFill>
            <a:srgbClr val="1C7293">
              <a:alpha val="20000"/>
            </a:srgbClr>
          </a:solidFill>
          <a:ln w="12700">
            <a:solidFill>
              <a:srgbClr val="1C7293">
                <a:alpha val="20000"/>
              </a:srgbClr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914400"/>
            <a:ext cx="640080" cy="64008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548640" y="1691640"/>
            <a:ext cx="7772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SKIDS Edge-Stack</a:t>
            </a:r>
            <a:endParaRPr lang="en-US" sz="4400" dirty="0"/>
          </a:p>
        </p:txBody>
      </p:sp>
      <p:sp>
        <p:nvSpPr>
          <p:cNvPr id="8" name="Text 5"/>
          <p:cNvSpPr/>
          <p:nvPr/>
        </p:nvSpPr>
        <p:spPr>
          <a:xfrm>
            <a:off x="548640" y="2468880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14B8A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v1 Release</a:t>
            </a:r>
            <a:endParaRPr lang="en-US" sz="2800" dirty="0"/>
          </a:p>
        </p:txBody>
      </p:sp>
      <p:sp>
        <p:nvSpPr>
          <p:cNvPr id="9" name="Text 6"/>
          <p:cNvSpPr/>
          <p:nvPr/>
        </p:nvSpPr>
        <p:spPr>
          <a:xfrm>
            <a:off x="548640" y="3017520"/>
            <a:ext cx="7772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Closed-loop clinical decision support for pediatric screening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548640" y="411480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Released  </a:t>
            </a:r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2026-04-17</a:t>
            </a:r>
            <a:endParaRPr lang="en-US" sz="1400" dirty="0"/>
          </a:p>
        </p:txBody>
      </p:sp>
      <p:sp>
        <p:nvSpPr>
          <p:cNvPr id="11" name="Text 8"/>
          <p:cNvSpPr/>
          <p:nvPr/>
        </p:nvSpPr>
        <p:spPr>
          <a:xfrm>
            <a:off x="548640" y="44348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Audience: clinical · ops · tech · business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0"/>
            <a:ext cx="8503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Executive summary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457200" y="914400"/>
            <a:ext cx="640080" cy="640080"/>
          </a:xfrm>
          <a:prstGeom prst="ellipse">
            <a:avLst/>
          </a:prstGeom>
          <a:solidFill>
            <a:srgbClr val="F1F5F9"/>
          </a:solidFill>
          <a:ln w="12700">
            <a:solidFill>
              <a:srgbClr val="F1F5F9"/>
            </a:solidFill>
            <a:prstDash val="solid"/>
          </a:ln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6928" y="1024128"/>
            <a:ext cx="420624" cy="420624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280160" y="91440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capture to decision-support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1280160" y="1261872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Five new capabilities turn SKIDS Screen from a data-capture platform into a closed-loop clinical decision-support system.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457200" y="1828800"/>
            <a:ext cx="640080" cy="640080"/>
          </a:xfrm>
          <a:prstGeom prst="ellipse">
            <a:avLst/>
          </a:prstGeom>
          <a:solidFill>
            <a:srgbClr val="F1F5F9"/>
          </a:solidFill>
          <a:ln w="12700">
            <a:solidFill>
              <a:srgbClr val="F1F5F9"/>
            </a:solidFill>
            <a:prstDash val="solid"/>
          </a:ln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6928" y="1938528"/>
            <a:ext cx="420624" cy="420624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1280160" y="182880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Doctors gain context, not clicks</a:t>
            </a:r>
            <a:endParaRPr lang="en-US" sz="1600" dirty="0"/>
          </a:p>
        </p:txBody>
      </p:sp>
      <p:sp>
        <p:nvSpPr>
          <p:cNvPr id="11" name="Text 7"/>
          <p:cNvSpPr/>
          <p:nvPr/>
        </p:nvSpPr>
        <p:spPr>
          <a:xfrm>
            <a:off x="1280160" y="2176272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observation surfaces top-5 relevant clinical evidence snippets + top-5 similar past cases in one expand, in under 500ms.</a:t>
            </a:r>
            <a:endParaRPr lang="en-US" sz="1200" dirty="0"/>
          </a:p>
        </p:txBody>
      </p:sp>
      <p:sp>
        <p:nvSpPr>
          <p:cNvPr id="12" name="Shape 8"/>
          <p:cNvSpPr/>
          <p:nvPr/>
        </p:nvSpPr>
        <p:spPr>
          <a:xfrm>
            <a:off x="457200" y="2743200"/>
            <a:ext cx="640080" cy="640080"/>
          </a:xfrm>
          <a:prstGeom prst="ellipse">
            <a:avLst/>
          </a:prstGeom>
          <a:solidFill>
            <a:srgbClr val="F1F5F9"/>
          </a:solidFill>
          <a:ln w="12700">
            <a:solidFill>
              <a:srgbClr val="F1F5F9"/>
            </a:solidFill>
            <a:prstDash val="solid"/>
          </a:ln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6928" y="2852928"/>
            <a:ext cx="420624" cy="420624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1280160" y="274320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Nothing is lost in transit</a:t>
            </a:r>
            <a:endParaRPr lang="en-US" sz="1600" dirty="0"/>
          </a:p>
        </p:txBody>
      </p:sp>
      <p:sp>
        <p:nvSpPr>
          <p:cNvPr id="15" name="Text 10"/>
          <p:cNvSpPr/>
          <p:nvPr/>
        </p:nvSpPr>
        <p:spPr>
          <a:xfrm>
            <a:off x="1280160" y="3090672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Durable workflow records 5 steps per observation; queue DLQs catch every poison message; every AI decision is auditable.</a:t>
            </a:r>
            <a:endParaRPr lang="en-US" sz="1200" dirty="0"/>
          </a:p>
        </p:txBody>
      </p:sp>
      <p:sp>
        <p:nvSpPr>
          <p:cNvPr id="16" name="Shape 11"/>
          <p:cNvSpPr/>
          <p:nvPr/>
        </p:nvSpPr>
        <p:spPr>
          <a:xfrm>
            <a:off x="457200" y="3657600"/>
            <a:ext cx="640080" cy="640080"/>
          </a:xfrm>
          <a:prstGeom prst="ellipse">
            <a:avLst/>
          </a:prstGeom>
          <a:solidFill>
            <a:srgbClr val="F1F5F9"/>
          </a:solidFill>
          <a:ln w="12700">
            <a:solidFill>
              <a:srgbClr val="F1F5F9"/>
            </a:solidFill>
            <a:prstDash val="solid"/>
          </a:ln>
        </p:spPr>
      </p:sp>
      <p:pic>
        <p:nvPicPr>
          <p:cNvPr id="1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6928" y="3767328"/>
            <a:ext cx="420624" cy="420624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1280160" y="365760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Ops + research unblocked</a:t>
            </a:r>
            <a:endParaRPr lang="en-US" sz="1600" dirty="0"/>
          </a:p>
        </p:txBody>
      </p:sp>
      <p:sp>
        <p:nvSpPr>
          <p:cNvPr id="19" name="Text 13"/>
          <p:cNvSpPr/>
          <p:nvPr/>
        </p:nvSpPr>
        <p:spPr>
          <a:xfrm>
            <a:off x="1280160" y="4005072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5 canonical analytics tiles (Q1-Q5) live; nightly de-identified Parquet layer ready for external researchers.</a:t>
            </a:r>
            <a:endParaRPr lang="en-US" sz="1200" dirty="0"/>
          </a:p>
        </p:txBody>
      </p:sp>
      <p:sp>
        <p:nvSpPr>
          <p:cNvPr id="20" name="Shape 14"/>
          <p:cNvSpPr/>
          <p:nvPr/>
        </p:nvSpPr>
        <p:spPr>
          <a:xfrm>
            <a:off x="0" y="4937760"/>
            <a:ext cx="9144000" cy="20574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21" name="Text 15"/>
          <p:cNvSpPr/>
          <p:nvPr/>
        </p:nvSpPr>
        <p:spPr>
          <a:xfrm>
            <a:off x="320040" y="4937760"/>
            <a:ext cx="4572000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SKIDS Edge-Stack v1 · 2026-04-17</a:t>
            </a:r>
            <a:endParaRPr lang="en-US" sz="900" dirty="0"/>
          </a:p>
        </p:txBody>
      </p:sp>
      <p:sp>
        <p:nvSpPr>
          <p:cNvPr id="22" name="Text 16"/>
          <p:cNvSpPr/>
          <p:nvPr/>
        </p:nvSpPr>
        <p:spPr>
          <a:xfrm>
            <a:off x="7863840" y="4937760"/>
            <a:ext cx="960120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12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0"/>
            <a:ext cx="8503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shipped — at a glance</a:t>
            </a:r>
            <a:endParaRPr lang="en-US" sz="22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0040" y="868680"/>
          <a:ext cx="8503920" cy="914400"/>
        </p:xfrm>
        <a:graphic>
          <a:graphicData uri="http://schemas.openxmlformats.org/drawingml/2006/table">
            <a:tbl>
              <a:tblPr/>
              <a:tblGrid>
                <a:gridCol w="411480"/>
                <a:gridCol w="4434840"/>
                <a:gridCol w="1828800"/>
                <a:gridCol w="1828800"/>
              </a:tblGrid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#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7293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Feature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7293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Who benefits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7293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Status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7293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Durable screening workflow — 5-step trace per observation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Nurses · Ops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10B98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Live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Sandbox second opinion — budget-capped ONNX re-analysis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Doctors · QA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59E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DB + UI live; container deferred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Evidence RAG + similar cases — 147 chunks, &lt;500ms P95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Doctors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10B98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Live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Population health Q1–Q5 + de-identified Parquet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Ops · Leadership · Researchers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10B98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Live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On-device Liquid AI — zero cloud egress, OPFS cached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Nurses · Doctors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59E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Infra live; weights pending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320040" y="4526280"/>
            <a:ext cx="8503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i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</a:t>
            </a:r>
            <a:pPr indent="0" marL="0">
              <a:buNone/>
            </a:pPr>
            <a:r>
              <a:rPr lang="en-US" sz="1000" i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=  ready for clinical use today.   </a:t>
            </a:r>
            <a:pPr indent="0" marL="0">
              <a:buNone/>
            </a:pPr>
            <a:r>
              <a:rPr lang="en-US" sz="1000" b="1" i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Amber</a:t>
            </a:r>
            <a:pPr indent="0" marL="0">
              <a:buNone/>
            </a:pPr>
            <a:r>
              <a:rPr lang="en-US" sz="1000" i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=  one known unblocker before promotion.</a:t>
            </a:r>
            <a:endParaRPr lang="en-US" sz="1000" dirty="0"/>
          </a:p>
        </p:txBody>
      </p:sp>
      <p:sp>
        <p:nvSpPr>
          <p:cNvPr id="6" name="Shape 3"/>
          <p:cNvSpPr/>
          <p:nvPr/>
        </p:nvSpPr>
        <p:spPr>
          <a:xfrm>
            <a:off x="0" y="4937760"/>
            <a:ext cx="9144000" cy="20574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320040" y="4937760"/>
            <a:ext cx="4572000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SKIDS Edge-Stack v1 · 2026-04-17</a:t>
            </a:r>
            <a:endParaRPr lang="en-US" sz="900" dirty="0"/>
          </a:p>
        </p:txBody>
      </p:sp>
      <p:sp>
        <p:nvSpPr>
          <p:cNvPr id="8" name="Text 5"/>
          <p:cNvSpPr/>
          <p:nvPr/>
        </p:nvSpPr>
        <p:spPr>
          <a:xfrm>
            <a:off x="7863840" y="4937760"/>
            <a:ext cx="960120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12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0" cy="5143500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0" y="274320"/>
            <a:ext cx="548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0" y="9144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1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914400" y="365760"/>
            <a:ext cx="7955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Durable screening workflow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914400" y="868680"/>
            <a:ext cx="7955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ScreeningObservationWorkflow  ·  Cloudflare Workflows + Queues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914400" y="1371600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5 recorded steps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914400" y="1737360"/>
            <a:ext cx="411480" cy="411480"/>
          </a:xfrm>
          <a:prstGeom prst="ellipse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14400" y="173736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1463040" y="1737360"/>
            <a:ext cx="329184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persist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1463040" y="1938528"/>
            <a:ext cx="329184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INSERT OR REPLACE into Turso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914400" y="2240280"/>
            <a:ext cx="411480" cy="411480"/>
          </a:xfrm>
          <a:prstGeom prst="ellipse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14400" y="224028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1463040" y="2240280"/>
            <a:ext cx="329184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quality-gate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1463040" y="2441448"/>
            <a:ext cx="329184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confidence · risk · routing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914400" y="2743200"/>
            <a:ext cx="411480" cy="411480"/>
          </a:xfrm>
          <a:prstGeom prst="ellipse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14400" y="274320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1463040" y="2743200"/>
            <a:ext cx="329184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embed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1463040" y="2944368"/>
            <a:ext cx="329184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bge-small-en-v1.5 via Workers AI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914400" y="3246120"/>
            <a:ext cx="411480" cy="411480"/>
          </a:xfrm>
          <a:prstGeom prst="ellipse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914400" y="324612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1463040" y="3246120"/>
            <a:ext cx="329184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enqueue 2nd opinion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1463040" y="3447288"/>
            <a:ext cx="329184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cond-based fan-out to queue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914400" y="3749040"/>
            <a:ext cx="411480" cy="411480"/>
          </a:xfrm>
          <a:prstGeom prst="ellipse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914400" y="374904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1463040" y="3749040"/>
            <a:ext cx="329184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await-review → notify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1463040" y="3950208"/>
            <a:ext cx="329184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72h timeout · doctor-review event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5212080" y="1371600"/>
            <a:ext cx="3657600" cy="320040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5212080" y="1371600"/>
            <a:ext cx="73152" cy="3200400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440680" y="1508760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Impact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5440680" y="1874520"/>
            <a:ext cx="329184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600"/>
              </a:spcAft>
              <a:buNone/>
            </a:pPr>
            <a:r>
              <a:rPr lang="en-US" sz="11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Before: </a:t>
            </a:r>
            <a:pPr indent="0" marL="0">
              <a:spcAft>
                <a:spcPts val="600"/>
              </a:spcAft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any transient error mid-flow silently lost the observation's downstream work.</a:t>
            </a:r>
            <a:pPr indent="0" marL="0">
              <a:spcAft>
                <a:spcPts val="600"/>
              </a:spcAft>
              <a:buNone/>
            </a:pPr>
            <a:endParaRPr lang="en-US" sz="1100" dirty="0"/>
          </a:p>
          <a:p>
            <a:pPr indent="0" marL="0">
              <a:spcAft>
                <a:spcPts val="600"/>
              </a:spcAft>
              <a:buNone/>
            </a:pPr>
            <a:endParaRPr lang="en-US" sz="11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1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After: </a:t>
            </a:r>
            <a:endParaRPr lang="en-US" sz="11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step records to workflow_events. Ops can reconstruct any screening's full trajectory.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5440680" y="3611880"/>
            <a:ext cx="3291840" cy="27432"/>
          </a:xfrm>
          <a:prstGeom prst="rect">
            <a:avLst/>
          </a:prstGeom>
          <a:solidFill>
            <a:srgbClr val="CBD5E1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5440680" y="3703320"/>
            <a:ext cx="32918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i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Rollback: </a:t>
            </a:r>
            <a:pPr indent="0" marL="0">
              <a:buNone/>
            </a:pPr>
            <a:r>
              <a:rPr lang="en-US" sz="1000" i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FEATURE_USE_WORKFLOW=0 → redeploy. Inline path resumes; in-flight workflows still drain.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0" y="4937760"/>
            <a:ext cx="9144000" cy="20574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320040" y="4937760"/>
            <a:ext cx="4572000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SKIDS Edge-Stack v1 · 2026-04-17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7863840" y="4937760"/>
            <a:ext cx="960120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12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0" cy="5143500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0" y="274320"/>
            <a:ext cx="548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0" y="9144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2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914400" y="365760"/>
            <a:ext cx="7955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Sandbox second opinion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914400" y="868680"/>
            <a:ext cx="7955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Doctor-initiated ONNX re-analysis  ·  budget-capped per session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914400" y="137160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Triggers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914400" y="1691640"/>
            <a:ext cx="73152" cy="274320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143000" y="169164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confidence &lt; 0.75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14400" y="2075688"/>
            <a:ext cx="73152" cy="274320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143000" y="207568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Moderate-risk finding with confidence &lt; 0.9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914400" y="2459736"/>
            <a:ext cx="73152" cy="274320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143000" y="2459736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Any vision / ear / skin / dental observation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914400" y="2843784"/>
            <a:ext cx="73152" cy="274320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143000" y="2843784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Doctor manual click in the inbox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5212080" y="1371600"/>
            <a:ext cx="1783080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5212080" y="2670048"/>
            <a:ext cx="1783080" cy="73152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212080" y="1508760"/>
            <a:ext cx="1783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065A8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</a:t>
            </a:r>
            <a:endParaRPr lang="en-US" sz="3600" dirty="0"/>
          </a:p>
        </p:txBody>
      </p:sp>
      <p:sp>
        <p:nvSpPr>
          <p:cNvPr id="19" name="Text 17"/>
          <p:cNvSpPr/>
          <p:nvPr/>
        </p:nvSpPr>
        <p:spPr>
          <a:xfrm>
            <a:off x="5212080" y="2148840"/>
            <a:ext cx="1783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 second-opinions per session (hard cap)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7086600" y="1371600"/>
            <a:ext cx="1783080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7086600" y="2670048"/>
            <a:ext cx="1783080" cy="73152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086600" y="1508760"/>
            <a:ext cx="1783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10B98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≥0.80</a:t>
            </a:r>
            <a:endParaRPr lang="en-US" sz="3600" dirty="0"/>
          </a:p>
        </p:txBody>
      </p:sp>
      <p:sp>
        <p:nvSpPr>
          <p:cNvPr id="23" name="Text 21"/>
          <p:cNvSpPr/>
          <p:nvPr/>
        </p:nvSpPr>
        <p:spPr>
          <a:xfrm>
            <a:off x="7086600" y="2148840"/>
            <a:ext cx="1783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 agreement score vs. doctor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5212080" y="2834640"/>
            <a:ext cx="1783080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5212080" y="4133088"/>
            <a:ext cx="1783080" cy="73152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212080" y="2971800"/>
            <a:ext cx="1783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1C729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60s</a:t>
            </a:r>
            <a:endParaRPr lang="en-US" sz="3600" dirty="0"/>
          </a:p>
        </p:txBody>
      </p:sp>
      <p:sp>
        <p:nvSpPr>
          <p:cNvPr id="27" name="Text 25"/>
          <p:cNvSpPr/>
          <p:nvPr/>
        </p:nvSpPr>
        <p:spPr>
          <a:xfrm>
            <a:off x="5212080" y="3611880"/>
            <a:ext cx="1783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P95 budget for queue → ONNX → DB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7086600" y="2834640"/>
            <a:ext cx="1783080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7086600" y="4133088"/>
            <a:ext cx="1783080" cy="73152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7086600" y="2971800"/>
            <a:ext cx="1783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14B8A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paired</a:t>
            </a:r>
            <a:endParaRPr lang="en-US" sz="3600" dirty="0"/>
          </a:p>
        </p:txBody>
      </p:sp>
      <p:sp>
        <p:nvSpPr>
          <p:cNvPr id="31" name="Text 29"/>
          <p:cNvSpPr/>
          <p:nvPr/>
        </p:nvSpPr>
        <p:spPr>
          <a:xfrm>
            <a:off x="7086600" y="3611880"/>
            <a:ext cx="1783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accuracy_metrics row on every opinion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914400" y="333756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What's deferred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914400" y="3657600"/>
            <a:ext cx="3840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the ONNX Docker image. DB schema, queue infra, UI button, session budget — all live. One container deploy enables inference end-to-end.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0" y="4937760"/>
            <a:ext cx="9144000" cy="20574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320040" y="4937760"/>
            <a:ext cx="4572000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SKIDS Edge-Stack v1 · 2026-04-17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7863840" y="4937760"/>
            <a:ext cx="960120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12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0" cy="5143500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0" y="274320"/>
            <a:ext cx="548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0" y="9144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3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914400" y="365760"/>
            <a:ext cx="7955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Evidence RAG + similar cases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914400" y="868680"/>
            <a:ext cx="7955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 /api/reviews/:id/context  ·  evidence + similar cases in one fan-out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914400" y="1417320"/>
            <a:ext cx="2514600" cy="128016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914400" y="1417320"/>
            <a:ext cx="73152" cy="128016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097280" y="1554480"/>
            <a:ext cx="2286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065A8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147</a:t>
            </a:r>
            <a:pPr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chunks</a:t>
            </a:r>
            <a:endParaRPr lang="en-US" sz="3600" dirty="0"/>
          </a:p>
        </p:txBody>
      </p:sp>
      <p:sp>
        <p:nvSpPr>
          <p:cNvPr id="10" name="Text 8"/>
          <p:cNvSpPr/>
          <p:nvPr/>
        </p:nvSpPr>
        <p:spPr>
          <a:xfrm>
            <a:off x="1097280" y="219456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Cloudflare Vectorize index  ·  384-dim cosine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611880" y="1417320"/>
            <a:ext cx="2514600" cy="128016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611880" y="1417320"/>
            <a:ext cx="73152" cy="1280160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794760" y="1554480"/>
            <a:ext cx="2286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C729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&lt;500</a:t>
            </a:r>
            <a:pPr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ms P95</a:t>
            </a:r>
            <a:endParaRPr lang="en-US" sz="3600" dirty="0"/>
          </a:p>
        </p:txBody>
      </p:sp>
      <p:sp>
        <p:nvSpPr>
          <p:cNvPr id="14" name="Text 12"/>
          <p:cNvSpPr/>
          <p:nvPr/>
        </p:nvSpPr>
        <p:spPr>
          <a:xfrm>
            <a:off x="3794760" y="219456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Unified /context endpoint (evidence + similar)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6309360" y="1417320"/>
            <a:ext cx="2514600" cy="128016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309360" y="1417320"/>
            <a:ext cx="73152" cy="1280160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492240" y="1554480"/>
            <a:ext cx="2286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4B8A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top-5</a:t>
            </a:r>
            <a:pPr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each</a:t>
            </a:r>
            <a:endParaRPr lang="en-US" sz="3600" dirty="0"/>
          </a:p>
        </p:txBody>
      </p:sp>
      <p:sp>
        <p:nvSpPr>
          <p:cNvPr id="18" name="Text 16"/>
          <p:cNvSpPr/>
          <p:nvPr/>
        </p:nvSpPr>
        <p:spPr>
          <a:xfrm>
            <a:off x="6492240" y="219456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Evidence snippets + similar past cases per obs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914400" y="2880360"/>
            <a:ext cx="3886200" cy="164592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pic>
        <p:nvPicPr>
          <p:cNvPr id="2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7280" y="3017520"/>
            <a:ext cx="411480" cy="411480"/>
          </a:xfrm>
          <a:prstGeom prst="rect">
            <a:avLst/>
          </a:prstGeom>
        </p:spPr>
      </p:pic>
      <p:sp>
        <p:nvSpPr>
          <p:cNvPr id="21" name="Text 18"/>
          <p:cNvSpPr/>
          <p:nvPr/>
        </p:nvSpPr>
        <p:spPr>
          <a:xfrm>
            <a:off x="1600200" y="301752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What's indexed today</a:t>
            </a:r>
            <a:endParaRPr lang="en-US" sz="1300" dirty="0"/>
          </a:p>
        </p:txBody>
      </p:sp>
      <p:sp>
        <p:nvSpPr>
          <p:cNvPr id="22" name="Text 19"/>
          <p:cNvSpPr/>
          <p:nvPr/>
        </p:nvSpPr>
        <p:spPr>
          <a:xfrm>
            <a:off x="1097280" y="3520440"/>
            <a:ext cx="36118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52 4D condition descriptions</a:t>
            </a:r>
            <a:endParaRPr lang="en-US" sz="10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 M-CHAT items with domain + criticality</a:t>
            </a:r>
            <a:endParaRPr lang="en-US" sz="10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Per-module parent-education intros</a:t>
            </a:r>
            <a:endParaRPr lang="en-US" sz="10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Condition-level parent guidance</a:t>
            </a:r>
            <a:endParaRPr lang="en-US" sz="1050" dirty="0"/>
          </a:p>
        </p:txBody>
      </p:sp>
      <p:sp>
        <p:nvSpPr>
          <p:cNvPr id="23" name="Shape 20"/>
          <p:cNvSpPr/>
          <p:nvPr/>
        </p:nvSpPr>
        <p:spPr>
          <a:xfrm>
            <a:off x="4983480" y="2880360"/>
            <a:ext cx="3886200" cy="164592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pic>
        <p:nvPicPr>
          <p:cNvPr id="2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66360" y="3017520"/>
            <a:ext cx="411480" cy="411480"/>
          </a:xfrm>
          <a:prstGeom prst="rect">
            <a:avLst/>
          </a:prstGeom>
        </p:spPr>
      </p:pic>
      <p:sp>
        <p:nvSpPr>
          <p:cNvPr id="25" name="Text 21"/>
          <p:cNvSpPr/>
          <p:nvPr/>
        </p:nvSpPr>
        <p:spPr>
          <a:xfrm>
            <a:off x="5669280" y="301752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Privacy posture</a:t>
            </a:r>
            <a:endParaRPr lang="en-US" sz="1300" dirty="0"/>
          </a:p>
        </p:txBody>
      </p:sp>
      <p:sp>
        <p:nvSpPr>
          <p:cNvPr id="26" name="Text 22"/>
          <p:cNvSpPr/>
          <p:nvPr/>
        </p:nvSpPr>
        <p:spPr>
          <a:xfrm>
            <a:off x="5166360" y="3520440"/>
            <a:ext cx="36118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curated, pre-approved educational content</a:t>
            </a:r>
            <a:endParaRPr lang="en-US" sz="10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280-char previews in metadata, no full text</a:t>
            </a:r>
            <a:endParaRPr lang="en-US" sz="10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PHI, no patient-record free text</a:t>
            </a:r>
            <a:endParaRPr lang="en-US" sz="10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Index versioned in evidence_index_version</a:t>
            </a:r>
            <a:endParaRPr lang="en-US" sz="1050" dirty="0"/>
          </a:p>
        </p:txBody>
      </p:sp>
      <p:sp>
        <p:nvSpPr>
          <p:cNvPr id="27" name="Shape 23"/>
          <p:cNvSpPr/>
          <p:nvPr/>
        </p:nvSpPr>
        <p:spPr>
          <a:xfrm>
            <a:off x="0" y="4937760"/>
            <a:ext cx="9144000" cy="20574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28" name="Text 24"/>
          <p:cNvSpPr/>
          <p:nvPr/>
        </p:nvSpPr>
        <p:spPr>
          <a:xfrm>
            <a:off x="320040" y="4937760"/>
            <a:ext cx="4572000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SKIDS Edge-Stack v1 · 2026-04-17</a:t>
            </a:r>
            <a:endParaRPr lang="en-US" sz="900" dirty="0"/>
          </a:p>
        </p:txBody>
      </p:sp>
      <p:sp>
        <p:nvSpPr>
          <p:cNvPr id="29" name="Text 25"/>
          <p:cNvSpPr/>
          <p:nvPr/>
        </p:nvSpPr>
        <p:spPr>
          <a:xfrm>
            <a:off x="7863840" y="4937760"/>
            <a:ext cx="960120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/ 12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0" cy="5143500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0" y="274320"/>
            <a:ext cx="548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0" y="9144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4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914400" y="365760"/>
            <a:ext cx="7955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Population health analytics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914400" y="868680"/>
            <a:ext cx="7955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Five canonical tiles live on /population-health  ·  Turso hot path + nightly Parquet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914400" y="1371600"/>
            <a:ext cx="2484120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914400" y="1371600"/>
            <a:ext cx="73152" cy="141732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097280" y="146304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65A8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Q1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1600200" y="1481328"/>
            <a:ext cx="1706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↔ clinician agreement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1097280" y="1828800"/>
            <a:ext cx="22098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Catch miscalibration per module × age band early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3627120" y="1371600"/>
            <a:ext cx="2484120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3627120" y="1371600"/>
            <a:ext cx="73152" cy="1417320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810000" y="146304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C729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Q2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4312920" y="1481328"/>
            <a:ext cx="1706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spend breakdown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3810000" y="1828800"/>
            <a:ext cx="22098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 cost regressions from a model swap within 7 days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6339840" y="1371600"/>
            <a:ext cx="2484120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6339840" y="1371600"/>
            <a:ext cx="73152" cy="1417320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522720" y="146304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EF444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Q3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7025640" y="1481328"/>
            <a:ext cx="1706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Red-flag prevalence</a:t>
            </a:r>
            <a:endParaRPr lang="en-US" sz="1150" dirty="0"/>
          </a:p>
        </p:txBody>
      </p:sp>
      <p:sp>
        <p:nvSpPr>
          <p:cNvPr id="21" name="Text 19"/>
          <p:cNvSpPr/>
          <p:nvPr/>
        </p:nvSpPr>
        <p:spPr>
          <a:xfrm>
            <a:off x="6522720" y="1828800"/>
            <a:ext cx="22098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Flag unusual campaign × age × gender clusters for follow-up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914400" y="2926080"/>
            <a:ext cx="3840480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914400" y="2926080"/>
            <a:ext cx="73152" cy="1417320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1097280" y="301752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4B8A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Q4</a:t>
            </a:r>
            <a:endParaRPr lang="en-US" sz="1800" dirty="0"/>
          </a:p>
        </p:txBody>
      </p:sp>
      <p:sp>
        <p:nvSpPr>
          <p:cNvPr id="25" name="Text 23"/>
          <p:cNvSpPr/>
          <p:nvPr/>
        </p:nvSpPr>
        <p:spPr>
          <a:xfrm>
            <a:off x="1600200" y="3035808"/>
            <a:ext cx="3063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Screener throughput</a:t>
            </a:r>
            <a:endParaRPr lang="en-US" sz="1150" dirty="0"/>
          </a:p>
        </p:txBody>
      </p:sp>
      <p:sp>
        <p:nvSpPr>
          <p:cNvPr id="26" name="Text 24"/>
          <p:cNvSpPr/>
          <p:nvPr/>
        </p:nvSpPr>
        <p:spPr>
          <a:xfrm>
            <a:off x="1097280" y="3383280"/>
            <a:ext cx="35661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Identify training opportunities or tool friction per nurse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4983480" y="2926080"/>
            <a:ext cx="3840480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4983480" y="2926080"/>
            <a:ext cx="73152" cy="141732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166360" y="301752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59E0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Q5</a:t>
            </a:r>
            <a:endParaRPr lang="en-US" sz="1800" dirty="0"/>
          </a:p>
        </p:txBody>
      </p:sp>
      <p:sp>
        <p:nvSpPr>
          <p:cNvPr id="30" name="Text 28"/>
          <p:cNvSpPr/>
          <p:nvPr/>
        </p:nvSpPr>
        <p:spPr>
          <a:xfrm>
            <a:off x="5669280" y="3035808"/>
            <a:ext cx="3063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Time-to-review SLA</a:t>
            </a:r>
            <a:endParaRPr lang="en-US" sz="1150" dirty="0"/>
          </a:p>
        </p:txBody>
      </p:sp>
      <p:sp>
        <p:nvSpPr>
          <p:cNvPr id="31" name="Text 29"/>
          <p:cNvSpPr/>
          <p:nvPr/>
        </p:nvSpPr>
        <p:spPr>
          <a:xfrm>
            <a:off x="5166360" y="3383280"/>
            <a:ext cx="35661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P50 / P95 / P99 minutes by decision — SLA monitoring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914400" y="4498848"/>
            <a:ext cx="7955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Analysts can also query the nightly de-identified Parquet directly — no PHI, safe for research.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0" y="4937760"/>
            <a:ext cx="9144000" cy="20574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320040" y="4937760"/>
            <a:ext cx="4572000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SKIDS Edge-Stack v1 · 2026-04-17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7863840" y="4937760"/>
            <a:ext cx="960120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/ 12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0" cy="5143500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0" y="274320"/>
            <a:ext cx="548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0" y="9144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5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914400" y="365760"/>
            <a:ext cx="7955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On-device Liquid AI — LFM2.5-VL-450M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914400" y="868680"/>
            <a:ext cx="7955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 cloud egress  ·  OPFS cached  ·  per-shard SHA-256 verified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914400" y="1371600"/>
            <a:ext cx="3749040" cy="324612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914400" y="1371600"/>
            <a:ext cx="3749040" cy="50292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097280" y="1371600"/>
            <a:ext cx="3474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IN PRODUCTION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1188720" y="2057400"/>
            <a:ext cx="3383280" cy="2423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Same-origin shard proxy /api/models/:id/:version/:shard</a:t>
            </a:r>
            <a:endParaRPr lang="en-US" sz="11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OPFS cache with per-shard SHA-256 verification</a:t>
            </a:r>
            <a:endParaRPr lang="en-US" sz="11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WebLLM + WebGPU runtime handoff</a:t>
            </a:r>
            <a:endParaRPr lang="en-US" sz="11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HITL outcome audit (suggested/accepted/rejected/edited)</a:t>
            </a:r>
            <a:endParaRPr lang="en-US" sz="11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Pinned manifest — no silent model upgrades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5029200" y="1371600"/>
            <a:ext cx="3749040" cy="324612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5029200" y="1371600"/>
            <a:ext cx="3749040" cy="50292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212080" y="1371600"/>
            <a:ext cx="3474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PENDING DEV-TEAM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5303520" y="2057400"/>
            <a:ext cx="3383280" cy="2423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LFM2.5-VL-450M weight shards not yet uploaded</a:t>
            </a:r>
            <a:endParaRPr lang="en-US" sz="11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MODEL_MANIFEST still PENDING-PIN placeholder</a:t>
            </a:r>
            <a:endParaRPr lang="en-US" sz="11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Mobile track (React Native runtime) not started</a:t>
            </a:r>
            <a:endParaRPr lang="en-US" sz="11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Est. 2–4 engineering days to complete</a:t>
            </a:r>
            <a:endParaRPr lang="en-US" sz="11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docs/HANDOVER-LIQUID-AI.md is self-contained plan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0" y="4937760"/>
            <a:ext cx="9144000" cy="20574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20040" y="4937760"/>
            <a:ext cx="4572000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SKIDS Edge-Stack v1 · 2026-04-17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7863840" y="4937760"/>
            <a:ext cx="960120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/ 12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0"/>
            <a:ext cx="8503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Safety &amp; governance — shipped alongside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65760" y="868680"/>
            <a:ext cx="425196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02920" y="1005840"/>
            <a:ext cx="594360" cy="594360"/>
          </a:xfrm>
          <a:prstGeom prst="ellipse">
            <a:avLst/>
          </a:prstGeom>
          <a:solidFill>
            <a:srgbClr val="F1F5F9"/>
          </a:solidFill>
          <a:ln w="12700">
            <a:solidFill>
              <a:srgbClr val="F1F5F9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21792" y="1124712"/>
            <a:ext cx="365760" cy="36576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234440" y="978408"/>
            <a:ext cx="3246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 everywhere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1234440" y="1280160"/>
            <a:ext cx="32461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audit_log captures every write, AI decision, model-shard fetch, queue message, and failure.</a:t>
            </a:r>
            <a:endParaRPr lang="en-US" sz="1000" dirty="0"/>
          </a:p>
        </p:txBody>
      </p:sp>
      <p:sp>
        <p:nvSpPr>
          <p:cNvPr id="9" name="Shape 6"/>
          <p:cNvSpPr/>
          <p:nvPr/>
        </p:nvSpPr>
        <p:spPr>
          <a:xfrm>
            <a:off x="4709160" y="868680"/>
            <a:ext cx="425196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4846320" y="1005840"/>
            <a:ext cx="594360" cy="594360"/>
          </a:xfrm>
          <a:prstGeom prst="ellipse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65192" y="1124712"/>
            <a:ext cx="365760" cy="36576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5577840" y="978408"/>
            <a:ext cx="3246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DLQ on every queue</a:t>
            </a:r>
            <a:endParaRPr lang="en-US" sz="1300" dirty="0"/>
          </a:p>
        </p:txBody>
      </p:sp>
      <p:sp>
        <p:nvSpPr>
          <p:cNvPr id="13" name="Text 9"/>
          <p:cNvSpPr/>
          <p:nvPr/>
        </p:nvSpPr>
        <p:spPr>
          <a:xfrm>
            <a:off x="5577840" y="1280160"/>
            <a:ext cx="32461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retries → dead letter → audit row + optional Langfuse trace. No poison message is silent.</a:t>
            </a:r>
            <a:endParaRPr lang="en-US" sz="1000" dirty="0"/>
          </a:p>
        </p:txBody>
      </p:sp>
      <p:sp>
        <p:nvSpPr>
          <p:cNvPr id="14" name="Shape 10"/>
          <p:cNvSpPr/>
          <p:nvPr/>
        </p:nvSpPr>
        <p:spPr>
          <a:xfrm>
            <a:off x="365760" y="2148840"/>
            <a:ext cx="425196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5" name="Shape 11"/>
          <p:cNvSpPr/>
          <p:nvPr/>
        </p:nvSpPr>
        <p:spPr>
          <a:xfrm>
            <a:off x="502920" y="2286000"/>
            <a:ext cx="594360" cy="594360"/>
          </a:xfrm>
          <a:prstGeom prst="ellipse">
            <a:avLst/>
          </a:prstGeom>
          <a:solidFill>
            <a:srgbClr val="F1F5F9"/>
          </a:solidFill>
          <a:ln w="12700">
            <a:solidFill>
              <a:srgbClr val="F1F5F9"/>
            </a:solidFill>
            <a:prstDash val="solid"/>
          </a:ln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1792" y="2404872"/>
            <a:ext cx="365760" cy="365760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234440" y="2258568"/>
            <a:ext cx="3246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Budget caps</a:t>
            </a:r>
            <a:endParaRPr lang="en-US" sz="1300" dirty="0"/>
          </a:p>
        </p:txBody>
      </p:sp>
      <p:sp>
        <p:nvSpPr>
          <p:cNvPr id="18" name="Text 13"/>
          <p:cNvSpPr/>
          <p:nvPr/>
        </p:nvSpPr>
        <p:spPr>
          <a:xfrm>
            <a:off x="1234440" y="2560320"/>
            <a:ext cx="32461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session_ai_budget (per-session) + ai_usage (rollup). Q2 tile surfaces this on the dashboard.</a:t>
            </a:r>
            <a:endParaRPr lang="en-US" sz="1000" dirty="0"/>
          </a:p>
        </p:txBody>
      </p:sp>
      <p:sp>
        <p:nvSpPr>
          <p:cNvPr id="19" name="Shape 14"/>
          <p:cNvSpPr/>
          <p:nvPr/>
        </p:nvSpPr>
        <p:spPr>
          <a:xfrm>
            <a:off x="4709160" y="2148840"/>
            <a:ext cx="425196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0" name="Shape 15"/>
          <p:cNvSpPr/>
          <p:nvPr/>
        </p:nvSpPr>
        <p:spPr>
          <a:xfrm>
            <a:off x="4846320" y="2286000"/>
            <a:ext cx="594360" cy="594360"/>
          </a:xfrm>
          <a:prstGeom prst="ellipse">
            <a:avLst/>
          </a:prstGeom>
          <a:solidFill>
            <a:srgbClr val="F1F5F9"/>
          </a:solidFill>
          <a:ln w="12700">
            <a:solidFill>
              <a:srgbClr val="F1F5F9"/>
            </a:solidFill>
            <a:prstDash val="solid"/>
          </a:ln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65192" y="2404872"/>
            <a:ext cx="365760" cy="365760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5577840" y="2258568"/>
            <a:ext cx="3246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Rollback on every flag</a:t>
            </a:r>
            <a:endParaRPr lang="en-US" sz="1300" dirty="0"/>
          </a:p>
        </p:txBody>
      </p:sp>
      <p:sp>
        <p:nvSpPr>
          <p:cNvPr id="23" name="Text 17"/>
          <p:cNvSpPr/>
          <p:nvPr/>
        </p:nvSpPr>
        <p:spPr>
          <a:xfrm>
            <a:off x="5577840" y="2560320"/>
            <a:ext cx="32461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new capability is flag-gated in wrangler.toml. Flip to "0" + redeploy = instant revert.</a:t>
            </a:r>
            <a:endParaRPr lang="en-US" sz="1000" dirty="0"/>
          </a:p>
        </p:txBody>
      </p:sp>
      <p:sp>
        <p:nvSpPr>
          <p:cNvPr id="24" name="Shape 18"/>
          <p:cNvSpPr/>
          <p:nvPr/>
        </p:nvSpPr>
        <p:spPr>
          <a:xfrm>
            <a:off x="365760" y="3429000"/>
            <a:ext cx="425196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5" name="Shape 19"/>
          <p:cNvSpPr/>
          <p:nvPr/>
        </p:nvSpPr>
        <p:spPr>
          <a:xfrm>
            <a:off x="502920" y="3566160"/>
            <a:ext cx="594360" cy="594360"/>
          </a:xfrm>
          <a:prstGeom prst="ellipse">
            <a:avLst/>
          </a:prstGeom>
          <a:solidFill>
            <a:srgbClr val="F1F5F9"/>
          </a:solidFill>
          <a:ln w="12700">
            <a:solidFill>
              <a:srgbClr val="F1F5F9"/>
            </a:solidFill>
            <a:prstDash val="solid"/>
          </a:ln>
        </p:spPr>
      </p:sp>
      <p:pic>
        <p:nvPicPr>
          <p:cNvPr id="2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1792" y="3685032"/>
            <a:ext cx="365760" cy="365760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1234440" y="3538728"/>
            <a:ext cx="3246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PHI residency</a:t>
            </a:r>
            <a:endParaRPr lang="en-US" sz="1300" dirty="0"/>
          </a:p>
        </p:txBody>
      </p:sp>
      <p:sp>
        <p:nvSpPr>
          <p:cNvPr id="28" name="Text 21"/>
          <p:cNvSpPr/>
          <p:nvPr/>
        </p:nvSpPr>
        <p:spPr>
          <a:xfrm>
            <a:off x="1234440" y="3840480"/>
            <a:ext cx="32461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Media stays in R2 APAC. Vectorize holds only curated text. Parent PDFs are HMAC-signed URLs, 30-day TTL.</a:t>
            </a:r>
            <a:endParaRPr lang="en-US" sz="1000" dirty="0"/>
          </a:p>
        </p:txBody>
      </p:sp>
      <p:sp>
        <p:nvSpPr>
          <p:cNvPr id="29" name="Shape 22"/>
          <p:cNvSpPr/>
          <p:nvPr/>
        </p:nvSpPr>
        <p:spPr>
          <a:xfrm>
            <a:off x="4709160" y="3429000"/>
            <a:ext cx="425196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0" name="Shape 23"/>
          <p:cNvSpPr/>
          <p:nvPr/>
        </p:nvSpPr>
        <p:spPr>
          <a:xfrm>
            <a:off x="4846320" y="3566160"/>
            <a:ext cx="594360" cy="594360"/>
          </a:xfrm>
          <a:prstGeom prst="ellipse">
            <a:avLst/>
          </a:prstGeom>
          <a:solidFill>
            <a:srgbClr val="F1F5F9"/>
          </a:solidFill>
          <a:ln w="12700">
            <a:solidFill>
              <a:srgbClr val="F1F5F9"/>
            </a:solidFill>
            <a:prstDash val="solid"/>
          </a:ln>
        </p:spPr>
      </p:sp>
      <p:pic>
        <p:nvPicPr>
          <p:cNvPr id="31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965192" y="3685032"/>
            <a:ext cx="365760" cy="365760"/>
          </a:xfrm>
          <a:prstGeom prst="rect">
            <a:avLst/>
          </a:prstGeom>
        </p:spPr>
      </p:pic>
      <p:sp>
        <p:nvSpPr>
          <p:cNvPr id="32" name="Text 24"/>
          <p:cNvSpPr/>
          <p:nvPr/>
        </p:nvSpPr>
        <p:spPr>
          <a:xfrm>
            <a:off x="5577840" y="3538728"/>
            <a:ext cx="3246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PR verified</a:t>
            </a:r>
            <a:endParaRPr lang="en-US" sz="1300" dirty="0"/>
          </a:p>
        </p:txBody>
      </p:sp>
      <p:sp>
        <p:nvSpPr>
          <p:cNvPr id="33" name="Text 25"/>
          <p:cNvSpPr/>
          <p:nvPr/>
        </p:nvSpPr>
        <p:spPr>
          <a:xfrm>
            <a:off x="5577840" y="3840480"/>
            <a:ext cx="32461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Typecheck + tests + /api/health smoke before merge. No deploy without a clean pipeline.</a:t>
            </a:r>
            <a:endParaRPr lang="en-US" sz="1000" dirty="0"/>
          </a:p>
        </p:txBody>
      </p:sp>
      <p:sp>
        <p:nvSpPr>
          <p:cNvPr id="34" name="Shape 26"/>
          <p:cNvSpPr/>
          <p:nvPr/>
        </p:nvSpPr>
        <p:spPr>
          <a:xfrm>
            <a:off x="0" y="4937760"/>
            <a:ext cx="9144000" cy="20574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35" name="Text 27"/>
          <p:cNvSpPr/>
          <p:nvPr/>
        </p:nvSpPr>
        <p:spPr>
          <a:xfrm>
            <a:off x="320040" y="4937760"/>
            <a:ext cx="4572000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SKIDS Edge-Stack v1 · 2026-04-17</a:t>
            </a:r>
            <a:endParaRPr lang="en-US" sz="900" dirty="0"/>
          </a:p>
        </p:txBody>
      </p:sp>
      <p:sp>
        <p:nvSpPr>
          <p:cNvPr id="36" name="Text 28"/>
          <p:cNvSpPr/>
          <p:nvPr/>
        </p:nvSpPr>
        <p:spPr>
          <a:xfrm>
            <a:off x="7863840" y="4937760"/>
            <a:ext cx="960120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/ 12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0"/>
            <a:ext cx="8503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Metrics to watch post-launch</a:t>
            </a:r>
            <a:endParaRPr lang="en-US" sz="22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0040" y="822960"/>
          <a:ext cx="8503920" cy="914400"/>
        </p:xfrm>
        <a:graphic>
          <a:graphicData uri="http://schemas.openxmlformats.org/drawingml/2006/table">
            <a:tbl>
              <a:tblPr/>
              <a:tblGrid>
                <a:gridCol w="3383280"/>
                <a:gridCol w="2834640"/>
                <a:gridCol w="2286000"/>
              </a:tblGrid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Metric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7293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Source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7293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Target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7293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Observation P95 write latency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AI Gateway · Langfuse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10B98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&lt; 200 ms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Workflow success rate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workflow_events table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10B98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&gt; 99%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Second-opinion ↔ doctor agreement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accuracy_metrics.agreement_score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10B98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&gt; 0.80 rolling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Evidence search P95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/api/evidence/search Langfuse span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10B98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&lt; 200 ms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/context unified endpoint P95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/api/reviews/:id/context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10B98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&lt; 500 ms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DLQ depth per queue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wrangler queues consumer get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EF44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always 0   (alarm &gt; 5)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Publishable Parquet freshness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R2 publishable/dt=…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10B98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one partition per day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0" y="4937760"/>
            <a:ext cx="9144000" cy="20574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320040" y="4937760"/>
            <a:ext cx="4572000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SKIDS Edge-Stack v1 · 2026-04-17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7863840" y="4937760"/>
            <a:ext cx="960120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/ 12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0"/>
            <a:ext cx="8503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What's next — prioritised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65760" y="914400"/>
            <a:ext cx="8412480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65760" y="914400"/>
            <a:ext cx="685800" cy="548640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" y="914400"/>
            <a:ext cx="685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P0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188720" y="969264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Liquid AI weights upload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1188720" y="1225296"/>
            <a:ext cx="5029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 team (handover doc ready)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6309360" y="914400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i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2–4 eng days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65760" y="1600200"/>
            <a:ext cx="8412480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65760" y="1600200"/>
            <a:ext cx="685800" cy="54864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65760" y="1600200"/>
            <a:ext cx="685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P1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1188720" y="1655064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Sandbox AI container image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1188720" y="1911096"/>
            <a:ext cx="5029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Ops + platform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6309360" y="1600200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i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 container beta stable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65760" y="2286000"/>
            <a:ext cx="8412480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365760" y="2286000"/>
            <a:ext cx="685800" cy="54864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65760" y="2286000"/>
            <a:ext cx="685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P1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1188720" y="2340864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Doctor-inbox 2nd-opinion badge in row header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1188720" y="2596896"/>
            <a:ext cx="5029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6309360" y="2286000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i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sprint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365760" y="2971800"/>
            <a:ext cx="8412480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365760" y="2971800"/>
            <a:ext cx="685800" cy="548640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65760" y="2971800"/>
            <a:ext cx="685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P2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1188720" y="3026664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Parent SMS / WhatsApp delivery adapter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1188720" y="3282696"/>
            <a:ext cx="5029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Integrations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6309360" y="2971800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i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Q2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365760" y="3657600"/>
            <a:ext cx="8412480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365760" y="3657600"/>
            <a:ext cx="685800" cy="548640"/>
          </a:xfrm>
          <a:prstGeom prst="rect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65760" y="3657600"/>
            <a:ext cx="685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P3</a:t>
            </a:r>
            <a:endParaRPr lang="en-US" sz="1400" dirty="0"/>
          </a:p>
        </p:txBody>
      </p:sp>
      <p:sp>
        <p:nvSpPr>
          <p:cNvPr id="31" name="Text 29"/>
          <p:cNvSpPr/>
          <p:nvPr/>
        </p:nvSpPr>
        <p:spPr>
          <a:xfrm>
            <a:off x="1188720" y="3712464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scripts/duckdb-repl.sh for researchers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1188720" y="3968496"/>
            <a:ext cx="5029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Ops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6309360" y="3657600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i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Nice-to-have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365760" y="4480560"/>
            <a:ext cx="8412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Explicitly deferred: DuckDB in-Worker (Phase 08 / MotherDuck). Architectural decision, not a bug.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0" y="4937760"/>
            <a:ext cx="9144000" cy="20574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320040" y="4937760"/>
            <a:ext cx="4572000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SKIDS Edge-Stack v1 · 2026-04-17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7863840" y="4937760"/>
            <a:ext cx="960120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/ 12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A254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28600" cy="5143500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36576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How this was built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91440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engineering day — surfaced, fixed, and documented end-to-end.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1554480"/>
            <a:ext cx="1965960" cy="1280160"/>
          </a:xfrm>
          <a:prstGeom prst="rect">
            <a:avLst/>
          </a:prstGeom>
          <a:solidFill>
            <a:srgbClr val="065A82">
              <a:alpha val="70000"/>
            </a:srgbClr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1691640"/>
            <a:ext cx="1965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14B8A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13</a:t>
            </a:r>
            <a:endParaRPr lang="en-US" sz="4000" dirty="0"/>
          </a:p>
        </p:txBody>
      </p:sp>
      <p:sp>
        <p:nvSpPr>
          <p:cNvPr id="7" name="Text 5"/>
          <p:cNvSpPr/>
          <p:nvPr/>
        </p:nvSpPr>
        <p:spPr>
          <a:xfrm>
            <a:off x="548640" y="2331720"/>
            <a:ext cx="1965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PRs merged today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697480" y="1554480"/>
            <a:ext cx="1965960" cy="1280160"/>
          </a:xfrm>
          <a:prstGeom prst="rect">
            <a:avLst/>
          </a:prstGeom>
          <a:solidFill>
            <a:srgbClr val="065A82">
              <a:alpha val="70000"/>
            </a:srgbClr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697480" y="1691640"/>
            <a:ext cx="1965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14B8A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7</a:t>
            </a:r>
            <a:endParaRPr lang="en-US" sz="4000" dirty="0"/>
          </a:p>
        </p:txBody>
      </p:sp>
      <p:sp>
        <p:nvSpPr>
          <p:cNvPr id="10" name="Text 8"/>
          <p:cNvSpPr/>
          <p:nvPr/>
        </p:nvSpPr>
        <p:spPr>
          <a:xfrm>
            <a:off x="2697480" y="2331720"/>
            <a:ext cx="1965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PRs (#22–29)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846320" y="1554480"/>
            <a:ext cx="1965960" cy="1280160"/>
          </a:xfrm>
          <a:prstGeom prst="rect">
            <a:avLst/>
          </a:prstGeom>
          <a:solidFill>
            <a:srgbClr val="065A82">
              <a:alpha val="70000"/>
            </a:srgbClr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846320" y="1691640"/>
            <a:ext cx="1965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14B8A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6</a:t>
            </a:r>
            <a:endParaRPr lang="en-US" sz="4000" dirty="0"/>
          </a:p>
        </p:txBody>
      </p:sp>
      <p:sp>
        <p:nvSpPr>
          <p:cNvPr id="13" name="Text 11"/>
          <p:cNvSpPr/>
          <p:nvPr/>
        </p:nvSpPr>
        <p:spPr>
          <a:xfrm>
            <a:off x="4846320" y="2331720"/>
            <a:ext cx="1965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 PRs (#30–36)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995160" y="1554480"/>
            <a:ext cx="1965960" cy="1280160"/>
          </a:xfrm>
          <a:prstGeom prst="rect">
            <a:avLst/>
          </a:prstGeom>
          <a:solidFill>
            <a:srgbClr val="065A82">
              <a:alpha val="70000"/>
            </a:srgbClr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995160" y="1691640"/>
            <a:ext cx="1965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14B8A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100%</a:t>
            </a:r>
            <a:endParaRPr lang="en-US" sz="4000" dirty="0"/>
          </a:p>
        </p:txBody>
      </p:sp>
      <p:sp>
        <p:nvSpPr>
          <p:cNvPr id="16" name="Text 14"/>
          <p:cNvSpPr/>
          <p:nvPr/>
        </p:nvSpPr>
        <p:spPr>
          <a:xfrm>
            <a:off x="6995160" y="2331720"/>
            <a:ext cx="1965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auto-squash + verified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548640" y="3108960"/>
            <a:ext cx="82296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Typecheck + tests before every merge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/api/health + canonical-query smoke after every deploy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flags on every capability — instant rollback path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blueprint + deferred-items register in docs/BLUEPRINT.md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548640" y="461772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i="1" spc="400" kern="0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Shipped · Auditable · Rollbackable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SKIDS Edge-Stack v1 Release</dc:title>
  <dc:subject>PptxGenJS Presentation</dc:subject>
  <dc:creator>SKIDS Platform</dc:creator>
  <cp:lastModifiedBy>SKIDS Platform</cp:lastModifiedBy>
  <cp:revision>1</cp:revision>
  <dcterms:created xsi:type="dcterms:W3CDTF">2026-04-17T13:09:26Z</dcterms:created>
  <dcterms:modified xsi:type="dcterms:W3CDTF">2026-04-17T13:09:26Z</dcterms:modified>
</cp:coreProperties>
</file>